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9" r:id="rId1"/>
  </p:sldMasterIdLst>
  <p:sldIdLst>
    <p:sldId id="263" r:id="rId2"/>
    <p:sldId id="257" r:id="rId3"/>
    <p:sldId id="258" r:id="rId4"/>
    <p:sldId id="259" r:id="rId5"/>
    <p:sldId id="260" r:id="rId6"/>
    <p:sldId id="261" r:id="rId7"/>
    <p:sldId id="264" r:id="rId8"/>
  </p:sldIdLst>
  <p:sldSz cx="12192000" cy="6858000"/>
  <p:notesSz cx="6858000" cy="9144000"/>
  <p:defaultTextStyle>
    <a:defPPr lvl="0">
      <a:defRPr lang="en-US"/>
    </a:defPPr>
    <a:lvl1pPr marL="0" lvl="0" algn="l" defTabSz="457200" rtl="0" eaLnBrk="1" latinLnBrk="0" hangingPunct="1">
      <a:defRPr sz="1800" kern="1200">
        <a:solidFill>
          <a:schemeClr val="tx1"/>
        </a:solidFill>
        <a:latin typeface="+mn-lt"/>
        <a:ea typeface="+mn-ea"/>
        <a:cs typeface="+mn-cs"/>
      </a:defRPr>
    </a:lvl1pPr>
    <a:lvl2pPr marL="457200" lvl="1" algn="l" defTabSz="457200" rtl="0" eaLnBrk="1" latinLnBrk="0" hangingPunct="1">
      <a:defRPr sz="1800" kern="1200">
        <a:solidFill>
          <a:schemeClr val="tx1"/>
        </a:solidFill>
        <a:latin typeface="+mn-lt"/>
        <a:ea typeface="+mn-ea"/>
        <a:cs typeface="+mn-cs"/>
      </a:defRPr>
    </a:lvl2pPr>
    <a:lvl3pPr marL="914400" lvl="2" algn="l" defTabSz="457200" rtl="0" eaLnBrk="1" latinLnBrk="0" hangingPunct="1">
      <a:defRPr sz="1800" kern="1200">
        <a:solidFill>
          <a:schemeClr val="tx1"/>
        </a:solidFill>
        <a:latin typeface="+mn-lt"/>
        <a:ea typeface="+mn-ea"/>
        <a:cs typeface="+mn-cs"/>
      </a:defRPr>
    </a:lvl3pPr>
    <a:lvl4pPr marL="1371600" lvl="3" algn="l" defTabSz="457200" rtl="0" eaLnBrk="1" latinLnBrk="0" hangingPunct="1">
      <a:defRPr sz="1800" kern="1200">
        <a:solidFill>
          <a:schemeClr val="tx1"/>
        </a:solidFill>
        <a:latin typeface="+mn-lt"/>
        <a:ea typeface="+mn-ea"/>
        <a:cs typeface="+mn-cs"/>
      </a:defRPr>
    </a:lvl4pPr>
    <a:lvl5pPr marL="1828800" lvl="4" algn="l" defTabSz="457200" rtl="0" eaLnBrk="1" latinLnBrk="0" hangingPunct="1">
      <a:defRPr sz="1800" kern="1200">
        <a:solidFill>
          <a:schemeClr val="tx1"/>
        </a:solidFill>
        <a:latin typeface="+mn-lt"/>
        <a:ea typeface="+mn-ea"/>
        <a:cs typeface="+mn-cs"/>
      </a:defRPr>
    </a:lvl5pPr>
    <a:lvl6pPr marL="2286000" lvl="5" algn="l" defTabSz="457200" rtl="0" eaLnBrk="1" latinLnBrk="0" hangingPunct="1">
      <a:defRPr sz="1800" kern="1200">
        <a:solidFill>
          <a:schemeClr val="tx1"/>
        </a:solidFill>
        <a:latin typeface="+mn-lt"/>
        <a:ea typeface="+mn-ea"/>
        <a:cs typeface="+mn-cs"/>
      </a:defRPr>
    </a:lvl6pPr>
    <a:lvl7pPr marL="2743200" lvl="6" algn="l" defTabSz="457200" rtl="0" eaLnBrk="1" latinLnBrk="0" hangingPunct="1">
      <a:defRPr sz="1800" kern="1200">
        <a:solidFill>
          <a:schemeClr val="tx1"/>
        </a:solidFill>
        <a:latin typeface="+mn-lt"/>
        <a:ea typeface="+mn-ea"/>
        <a:cs typeface="+mn-cs"/>
      </a:defRPr>
    </a:lvl7pPr>
    <a:lvl8pPr marL="3200400" lvl="7" algn="l" defTabSz="457200" rtl="0" eaLnBrk="1" latinLnBrk="0" hangingPunct="1">
      <a:defRPr sz="1800" kern="1200">
        <a:solidFill>
          <a:schemeClr val="tx1"/>
        </a:solidFill>
        <a:latin typeface="+mn-lt"/>
        <a:ea typeface="+mn-ea"/>
        <a:cs typeface="+mn-cs"/>
      </a:defRPr>
    </a:lvl8pPr>
    <a:lvl9pPr marL="3657600" lvl="8"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658" y="9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7697710-4DEA-4225-97DF-6C7C1638AC7A}" type="datetimeFigureOut">
              <a:rPr lang="en-US" smtClean="0"/>
              <a:pPr/>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156CE6-0867-4D96-8DAE-A7739D60C56B}" type="slidenum">
              <a:rPr lang="en-US" smtClean="0"/>
              <a:pPr/>
              <a:t>‹#›</a:t>
            </a:fld>
            <a:endParaRPr lang="en-US"/>
          </a:p>
        </p:txBody>
      </p:sp>
    </p:spTree>
    <p:extLst>
      <p:ext uri="{BB962C8B-B14F-4D97-AF65-F5344CB8AC3E}">
        <p14:creationId xmlns:p14="http://schemas.microsoft.com/office/powerpoint/2010/main" val="3829877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7697710-4DEA-4225-97DF-6C7C1638AC7A}" type="datetimeFigureOut">
              <a:rPr lang="en-US" smtClean="0"/>
              <a:pPr/>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156CE6-0867-4D96-8DAE-A7739D60C56B}" type="slidenum">
              <a:rPr lang="en-US" smtClean="0"/>
              <a:pPr/>
              <a:t>‹#›</a:t>
            </a:fld>
            <a:endParaRPr lang="en-US"/>
          </a:p>
        </p:txBody>
      </p:sp>
    </p:spTree>
    <p:extLst>
      <p:ext uri="{BB962C8B-B14F-4D97-AF65-F5344CB8AC3E}">
        <p14:creationId xmlns:p14="http://schemas.microsoft.com/office/powerpoint/2010/main" val="12067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697710-4DEA-4225-97DF-6C7C1638AC7A}" type="datetimeFigureOut">
              <a:rPr lang="en-US" smtClean="0"/>
              <a:pPr/>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156CE6-0867-4D96-8DAE-A7739D60C56B}" type="slidenum">
              <a:rPr lang="en-US" smtClean="0"/>
              <a:pPr/>
              <a:t>‹#›</a:t>
            </a:fld>
            <a:endParaRPr lang="en-US"/>
          </a:p>
        </p:txBody>
      </p:sp>
    </p:spTree>
    <p:extLst>
      <p:ext uri="{BB962C8B-B14F-4D97-AF65-F5344CB8AC3E}">
        <p14:creationId xmlns:p14="http://schemas.microsoft.com/office/powerpoint/2010/main" val="12730113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7697710-4DEA-4225-97DF-6C7C1638AC7A}" type="datetimeFigureOut">
              <a:rPr lang="en-US" smtClean="0"/>
              <a:pPr/>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156CE6-0867-4D96-8DAE-A7739D60C56B}" type="slidenum">
              <a:rPr lang="en-US" smtClean="0"/>
              <a:pPr/>
              <a:t>‹#›</a:t>
            </a:fld>
            <a:endParaRPr lang="en-US"/>
          </a:p>
        </p:txBody>
      </p:sp>
    </p:spTree>
    <p:extLst>
      <p:ext uri="{BB962C8B-B14F-4D97-AF65-F5344CB8AC3E}">
        <p14:creationId xmlns:p14="http://schemas.microsoft.com/office/powerpoint/2010/main" val="588302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7697710-4DEA-4225-97DF-6C7C1638AC7A}" type="datetimeFigureOut">
              <a:rPr lang="en-US" smtClean="0"/>
              <a:pPr/>
              <a:t>10/13/2026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A156CE6-0867-4D96-8DAE-A7739D60C56B}" type="slidenum">
              <a:rPr lang="en-US" smtClean="0"/>
              <a:pPr/>
              <a:t>‹#›</a:t>
            </a:fld>
            <a:endParaRPr lang="en-US"/>
          </a:p>
        </p:txBody>
      </p:sp>
    </p:spTree>
    <p:extLst>
      <p:ext uri="{BB962C8B-B14F-4D97-AF65-F5344CB8AC3E}">
        <p14:creationId xmlns:p14="http://schemas.microsoft.com/office/powerpoint/2010/main" val="13323029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7697710-4DEA-4225-97DF-6C7C1638AC7A}" type="datetimeFigureOut">
              <a:rPr lang="en-US" smtClean="0"/>
              <a:pPr/>
              <a:t>10/13/2026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A156CE6-0867-4D96-8DAE-A7739D60C56B}" type="slidenum">
              <a:rPr lang="en-US" smtClean="0"/>
              <a:pPr/>
              <a:t>‹#›</a:t>
            </a:fld>
            <a:endParaRPr lang="en-US"/>
          </a:p>
        </p:txBody>
      </p:sp>
    </p:spTree>
    <p:extLst>
      <p:ext uri="{BB962C8B-B14F-4D97-AF65-F5344CB8AC3E}">
        <p14:creationId xmlns:p14="http://schemas.microsoft.com/office/powerpoint/2010/main" val="2980399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697710-4DEA-4225-97DF-6C7C1638AC7A}" type="datetimeFigureOut">
              <a:rPr lang="en-US" smtClean="0"/>
              <a:pPr/>
              <a:t>10/13/2026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A156CE6-0867-4D96-8DAE-A7739D60C56B}" type="slidenum">
              <a:rPr lang="en-US" smtClean="0"/>
              <a:pPr/>
              <a:t>‹#›</a:t>
            </a:fld>
            <a:endParaRPr lang="en-US"/>
          </a:p>
        </p:txBody>
      </p:sp>
    </p:spTree>
    <p:extLst>
      <p:ext uri="{BB962C8B-B14F-4D97-AF65-F5344CB8AC3E}">
        <p14:creationId xmlns:p14="http://schemas.microsoft.com/office/powerpoint/2010/main" val="3571539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7697710-4DEA-4225-97DF-6C7C1638AC7A}" type="datetimeFigureOut">
              <a:rPr lang="en-US" smtClean="0"/>
              <a:pPr/>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156CE6-0867-4D96-8DAE-A7739D60C56B}" type="slidenum">
              <a:rPr lang="en-US" smtClean="0"/>
              <a:pPr/>
              <a:t>‹#›</a:t>
            </a:fld>
            <a:endParaRPr lang="en-US"/>
          </a:p>
        </p:txBody>
      </p:sp>
    </p:spTree>
    <p:extLst>
      <p:ext uri="{BB962C8B-B14F-4D97-AF65-F5344CB8AC3E}">
        <p14:creationId xmlns:p14="http://schemas.microsoft.com/office/powerpoint/2010/main" val="39274936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7697710-4DEA-4225-97DF-6C7C1638AC7A}" type="datetimeFigureOut">
              <a:rPr lang="en-US" smtClean="0"/>
              <a:pPr/>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156CE6-0867-4D96-8DAE-A7739D60C56B}" type="slidenum">
              <a:rPr lang="en-US" smtClean="0"/>
              <a:pPr/>
              <a:t>‹#›</a:t>
            </a:fld>
            <a:endParaRPr lang="en-US"/>
          </a:p>
        </p:txBody>
      </p:sp>
    </p:spTree>
    <p:extLst>
      <p:ext uri="{BB962C8B-B14F-4D97-AF65-F5344CB8AC3E}">
        <p14:creationId xmlns:p14="http://schemas.microsoft.com/office/powerpoint/2010/main" val="12089400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7697710-4DEA-4225-97DF-6C7C1638AC7A}" type="datetimeFigureOut">
              <a:rPr lang="en-US" smtClean="0"/>
              <a:pPr/>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156CE6-0867-4D96-8DAE-A7739D60C56B}" type="slidenum">
              <a:rPr lang="en-US" smtClean="0"/>
              <a:pPr/>
              <a:t>‹#›</a:t>
            </a:fld>
            <a:endParaRPr lang="en-US"/>
          </a:p>
        </p:txBody>
      </p:sp>
    </p:spTree>
    <p:extLst>
      <p:ext uri="{BB962C8B-B14F-4D97-AF65-F5344CB8AC3E}">
        <p14:creationId xmlns:p14="http://schemas.microsoft.com/office/powerpoint/2010/main" val="12850784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7697710-4DEA-4225-97DF-6C7C1638AC7A}" type="datetimeFigureOut">
              <a:rPr lang="en-US" smtClean="0"/>
              <a:pPr/>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156CE6-0867-4D96-8DAE-A7739D60C56B}" type="slidenum">
              <a:rPr lang="en-US" smtClean="0"/>
              <a:pPr/>
              <a:t>‹#›</a:t>
            </a:fld>
            <a:endParaRPr lang="en-US"/>
          </a:p>
        </p:txBody>
      </p:sp>
    </p:spTree>
    <p:extLst>
      <p:ext uri="{BB962C8B-B14F-4D97-AF65-F5344CB8AC3E}">
        <p14:creationId xmlns:p14="http://schemas.microsoft.com/office/powerpoint/2010/main" val="42629936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697710-4DEA-4225-97DF-6C7C1638AC7A}" type="datetimeFigureOut">
              <a:rPr lang="en-US" smtClean="0"/>
              <a:pPr/>
              <a:t>10/13/2026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156CE6-0867-4D96-8DAE-A7739D60C56B}" type="slidenum">
              <a:rPr lang="en-US" smtClean="0"/>
              <a:pPr/>
              <a:t>‹#›</a:t>
            </a:fld>
            <a:endParaRPr lang="en-US"/>
          </a:p>
        </p:txBody>
      </p:sp>
    </p:spTree>
    <p:extLst>
      <p:ext uri="{BB962C8B-B14F-4D97-AF65-F5344CB8AC3E}">
        <p14:creationId xmlns:p14="http://schemas.microsoft.com/office/powerpoint/2010/main" val="1729419397"/>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 Id="rId4" Type="http://schemas.openxmlformats.org/officeDocument/2006/relationships/image" Target="../media/image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11 - Copy (3).jpg"/>
          <p:cNvPicPr>
            <a:picLocks noChangeAspect="1"/>
          </p:cNvPicPr>
          <p:nvPr/>
        </p:nvPicPr>
        <p:blipFill>
          <a:blip r:embed="rId2" cstate="print"/>
          <a:stretch>
            <a:fillRect/>
          </a:stretch>
        </p:blipFill>
        <p:spPr>
          <a:xfrm>
            <a:off x="1524000" y="1"/>
            <a:ext cx="9144000" cy="824753"/>
          </a:xfrm>
          <a:prstGeom prst="rect">
            <a:avLst/>
          </a:prstGeom>
        </p:spPr>
      </p:pic>
      <p:sp>
        <p:nvSpPr>
          <p:cNvPr id="6" name="Title 5"/>
          <p:cNvSpPr>
            <a:spLocks noGrp="1"/>
          </p:cNvSpPr>
          <p:nvPr>
            <p:ph type="ctrTitle"/>
          </p:nvPr>
        </p:nvSpPr>
        <p:spPr>
          <a:xfrm>
            <a:off x="2209800" y="2064292"/>
            <a:ext cx="7772400" cy="838199"/>
          </a:xfrm>
        </p:spPr>
        <p:txBody>
          <a:bodyPr>
            <a:normAutofit/>
          </a:bodyPr>
          <a:lstStyle/>
          <a:p>
            <a:r>
              <a:rPr lang="en-US" dirty="0" smtClean="0"/>
              <a:t>Smart lightning with IOT</a:t>
            </a:r>
            <a:endParaRPr lang="en-US" dirty="0"/>
          </a:p>
        </p:txBody>
      </p:sp>
      <p:sp>
        <p:nvSpPr>
          <p:cNvPr id="7" name="Subtitle 6"/>
          <p:cNvSpPr>
            <a:spLocks noGrp="1"/>
          </p:cNvSpPr>
          <p:nvPr>
            <p:ph type="subTitle" idx="1"/>
          </p:nvPr>
        </p:nvSpPr>
        <p:spPr>
          <a:xfrm>
            <a:off x="5412509" y="3343564"/>
            <a:ext cx="6580785" cy="1404933"/>
          </a:xfrm>
        </p:spPr>
        <p:txBody>
          <a:bodyPr>
            <a:normAutofit/>
          </a:bodyPr>
          <a:lstStyle/>
          <a:p>
            <a:endParaRPr lang="en-US" sz="1800" b="1" dirty="0" smtClean="0">
              <a:solidFill>
                <a:srgbClr val="FF0000"/>
              </a:solidFill>
            </a:endParaRPr>
          </a:p>
          <a:p>
            <a:endParaRPr lang="en-US" sz="1800" b="1" dirty="0">
              <a:solidFill>
                <a:srgbClr val="FF0000"/>
              </a:solidFill>
            </a:endParaRPr>
          </a:p>
        </p:txBody>
      </p:sp>
      <p:sp>
        <p:nvSpPr>
          <p:cNvPr id="14" name="TextBox 13"/>
          <p:cNvSpPr txBox="1"/>
          <p:nvPr/>
        </p:nvSpPr>
        <p:spPr>
          <a:xfrm>
            <a:off x="1524000" y="0"/>
            <a:ext cx="8001000" cy="553998"/>
          </a:xfrm>
          <a:prstGeom prst="rect">
            <a:avLst/>
          </a:prstGeom>
          <a:noFill/>
        </p:spPr>
        <p:txBody>
          <a:bodyPr wrap="square" rtlCol="0">
            <a:spAutoFit/>
          </a:bodyPr>
          <a:lstStyle/>
          <a:p>
            <a:pPr algn="ctr" defTabSz="914400"/>
            <a:r>
              <a:rPr lang="en-US" sz="3000" b="1" spc="300" dirty="0">
                <a:solidFill>
                  <a:srgbClr val="F79646">
                    <a:lumMod val="20000"/>
                    <a:lumOff val="80000"/>
                  </a:srgbClr>
                </a:solidFill>
                <a:effectLst>
                  <a:outerShdw blurRad="38100" dist="38100" dir="2700000" algn="tl">
                    <a:srgbClr val="000000">
                      <a:alpha val="43137"/>
                    </a:srgbClr>
                  </a:outerShdw>
                </a:effectLst>
                <a:latin typeface="Calibri"/>
              </a:rPr>
              <a:t>COER UNIVERSITY</a:t>
            </a:r>
          </a:p>
        </p:txBody>
      </p:sp>
      <p:pic>
        <p:nvPicPr>
          <p:cNvPr id="11" name="Picture 10" descr="Academic.JPG"/>
          <p:cNvPicPr>
            <a:picLocks noChangeAspect="1"/>
          </p:cNvPicPr>
          <p:nvPr/>
        </p:nvPicPr>
        <p:blipFill>
          <a:blip r:embed="rId3"/>
          <a:stretch>
            <a:fillRect/>
          </a:stretch>
        </p:blipFill>
        <p:spPr>
          <a:xfrm>
            <a:off x="1524000" y="4716018"/>
            <a:ext cx="9144000" cy="2141982"/>
          </a:xfrm>
          <a:prstGeom prst="rect">
            <a:avLst/>
          </a:prstGeom>
        </p:spPr>
      </p:pic>
      <p:pic>
        <p:nvPicPr>
          <p:cNvPr id="2" name="Picture 1">
            <a:extLst>
              <a:ext uri="{FF2B5EF4-FFF2-40B4-BE49-F238E27FC236}">
                <a16:creationId xmlns="" xmlns:a16="http://schemas.microsoft.com/office/drawing/2014/main" id="{E5E29C83-E6C2-7803-3488-AB8AAB9FB6B1}"/>
              </a:ext>
            </a:extLst>
          </p:cNvPr>
          <p:cNvPicPr>
            <a:picLocks noChangeAspect="1"/>
          </p:cNvPicPr>
          <p:nvPr/>
        </p:nvPicPr>
        <p:blipFill>
          <a:blip r:embed="rId4"/>
          <a:stretch>
            <a:fillRect/>
          </a:stretch>
        </p:blipFill>
        <p:spPr>
          <a:xfrm>
            <a:off x="8066424" y="67248"/>
            <a:ext cx="2459952" cy="7899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835536A-BB79-018E-DB3E-F17C0C2EF5C2}"/>
              </a:ext>
            </a:extLst>
          </p:cNvPr>
          <p:cNvSpPr>
            <a:spLocks noGrp="1"/>
          </p:cNvSpPr>
          <p:nvPr>
            <p:ph type="title"/>
          </p:nvPr>
        </p:nvSpPr>
        <p:spPr/>
        <p:txBody>
          <a:bodyPr>
            <a:normAutofit/>
          </a:bodyPr>
          <a:lstStyle/>
          <a:p>
            <a:r>
              <a:rPr lang="en-US" b="1" dirty="0"/>
              <a:t>OBJECTIVE</a:t>
            </a:r>
            <a:r>
              <a:rPr lang="en-US" dirty="0"/>
              <a:t> </a:t>
            </a:r>
          </a:p>
        </p:txBody>
      </p:sp>
      <p:pic>
        <p:nvPicPr>
          <p:cNvPr id="3" name="Picture 2">
            <a:extLst>
              <a:ext uri="{FF2B5EF4-FFF2-40B4-BE49-F238E27FC236}">
                <a16:creationId xmlns="" xmlns:a16="http://schemas.microsoft.com/office/drawing/2014/main" id="{9B547D10-5A22-DCAB-31E5-CA953925EFC5}"/>
              </a:ext>
            </a:extLst>
          </p:cNvPr>
          <p:cNvPicPr>
            <a:picLocks noChangeAspect="1"/>
          </p:cNvPicPr>
          <p:nvPr/>
        </p:nvPicPr>
        <p:blipFill>
          <a:blip r:embed="rId2"/>
          <a:stretch>
            <a:fillRect/>
          </a:stretch>
        </p:blipFill>
        <p:spPr>
          <a:xfrm>
            <a:off x="9482783" y="274638"/>
            <a:ext cx="2459952" cy="789985"/>
          </a:xfrm>
          <a:prstGeom prst="rect">
            <a:avLst/>
          </a:prstGeom>
        </p:spPr>
      </p:pic>
      <p:sp>
        <p:nvSpPr>
          <p:cNvPr id="4" name="Rectangle 3"/>
          <p:cNvSpPr/>
          <p:nvPr/>
        </p:nvSpPr>
        <p:spPr>
          <a:xfrm>
            <a:off x="3048000" y="-1168060"/>
            <a:ext cx="6096000" cy="842731"/>
          </a:xfrm>
          <a:prstGeom prst="rect">
            <a:avLst/>
          </a:prstGeom>
        </p:spPr>
        <p:txBody>
          <a:bodyPr>
            <a:spAutoFit/>
          </a:bodyPr>
          <a:lstStyle/>
          <a:p>
            <a:pPr>
              <a:lnSpc>
                <a:spcPct val="106000"/>
              </a:lnSpc>
              <a:spcAft>
                <a:spcPts val="0"/>
              </a:spcAft>
            </a:pPr>
            <a:endParaRPr lang="en-IN" sz="1400" dirty="0">
              <a:latin typeface="Times New Roman" panose="02020603050405020304" pitchFamily="18" charset="0"/>
              <a:ea typeface="Times New Roman" panose="02020603050405020304" pitchFamily="18" charset="0"/>
            </a:endParaRPr>
          </a:p>
          <a:p>
            <a:pPr>
              <a:lnSpc>
                <a:spcPct val="106000"/>
              </a:lnSpc>
              <a:spcAft>
                <a:spcPts val="0"/>
              </a:spcAft>
            </a:pPr>
            <a:r>
              <a:rPr lang="en-IN" dirty="0">
                <a:solidFill>
                  <a:srgbClr val="000000"/>
                </a:solidFill>
                <a:latin typeface="Times New Roman" panose="02020603050405020304" pitchFamily="18" charset="0"/>
                <a:ea typeface="Times New Roman" panose="02020603050405020304" pitchFamily="18" charset="0"/>
              </a:rPr>
              <a:t> </a:t>
            </a:r>
            <a:endParaRPr lang="en-IN" sz="1400" dirty="0">
              <a:latin typeface="Times New Roman" panose="02020603050405020304" pitchFamily="18" charset="0"/>
              <a:ea typeface="Times New Roman" panose="02020603050405020304" pitchFamily="18" charset="0"/>
            </a:endParaRPr>
          </a:p>
          <a:p>
            <a:pPr>
              <a:lnSpc>
                <a:spcPct val="106000"/>
              </a:lnSpc>
              <a:spcAft>
                <a:spcPts val="0"/>
              </a:spcAft>
            </a:pPr>
            <a:endParaRPr lang="en-IN" sz="1400" dirty="0">
              <a:latin typeface="Times New Roman" panose="02020603050405020304" pitchFamily="18" charset="0"/>
              <a:ea typeface="Times New Roman" panose="02020603050405020304" pitchFamily="18" charset="0"/>
            </a:endParaRPr>
          </a:p>
        </p:txBody>
      </p:sp>
      <p:sp>
        <p:nvSpPr>
          <p:cNvPr id="5" name="Rectangle 4"/>
          <p:cNvSpPr/>
          <p:nvPr/>
        </p:nvSpPr>
        <p:spPr>
          <a:xfrm>
            <a:off x="203201" y="1200727"/>
            <a:ext cx="11739534" cy="5670848"/>
          </a:xfrm>
          <a:prstGeom prst="rect">
            <a:avLst/>
          </a:prstGeom>
        </p:spPr>
        <p:txBody>
          <a:bodyPr wrap="square">
            <a:spAutoFit/>
          </a:bodyPr>
          <a:lstStyle/>
          <a:p>
            <a:pPr>
              <a:lnSpc>
                <a:spcPct val="106000"/>
              </a:lnSpc>
              <a:spcAft>
                <a:spcPts val="0"/>
              </a:spcAft>
            </a:pPr>
            <a:r>
              <a:rPr lang="en-IN" dirty="0">
                <a:solidFill>
                  <a:srgbClr val="000000"/>
                </a:solidFill>
                <a:latin typeface="Times New Roman" panose="02020603050405020304" pitchFamily="18" charset="0"/>
                <a:ea typeface="Times New Roman" panose="02020603050405020304" pitchFamily="18" charset="0"/>
              </a:rPr>
              <a:t>The Smart Lighting Control System aims to create an intelligent, user-friendly, and highly customizable lighting experience. The objectives are divided into functional, advanced, and utility-based goals to ensure a complete and practical </a:t>
            </a:r>
            <a:r>
              <a:rPr lang="en-IN" dirty="0" err="1">
                <a:solidFill>
                  <a:srgbClr val="000000"/>
                </a:solidFill>
                <a:latin typeface="Times New Roman" panose="02020603050405020304" pitchFamily="18" charset="0"/>
                <a:ea typeface="Times New Roman" panose="02020603050405020304" pitchFamily="18" charset="0"/>
              </a:rPr>
              <a:t>IoT</a:t>
            </a:r>
            <a:r>
              <a:rPr lang="en-IN" dirty="0">
                <a:solidFill>
                  <a:srgbClr val="000000"/>
                </a:solidFill>
                <a:latin typeface="Times New Roman" panose="02020603050405020304" pitchFamily="18" charset="0"/>
                <a:ea typeface="Times New Roman" panose="02020603050405020304" pitchFamily="18" charset="0"/>
              </a:rPr>
              <a:t> lighting solution.</a:t>
            </a:r>
            <a:endParaRPr lang="en-IN" sz="1400" dirty="0">
              <a:latin typeface="Times New Roman" panose="02020603050405020304" pitchFamily="18" charset="0"/>
              <a:ea typeface="Times New Roman" panose="02020603050405020304" pitchFamily="18" charset="0"/>
            </a:endParaRPr>
          </a:p>
          <a:p>
            <a:pPr>
              <a:lnSpc>
                <a:spcPct val="106000"/>
              </a:lnSpc>
              <a:spcAft>
                <a:spcPts val="0"/>
              </a:spcAft>
              <a:tabLst>
                <a:tab pos="624840" algn="l"/>
              </a:tabLst>
            </a:pPr>
            <a:r>
              <a:rPr lang="en-IN" dirty="0">
                <a:solidFill>
                  <a:srgbClr val="000000"/>
                </a:solidFill>
                <a:latin typeface="Times New Roman" panose="02020603050405020304" pitchFamily="18" charset="0"/>
                <a:ea typeface="Times New Roman" panose="02020603050405020304" pitchFamily="18" charset="0"/>
              </a:rPr>
              <a:t>	</a:t>
            </a:r>
            <a:endParaRPr lang="en-IN" sz="1400" dirty="0">
              <a:latin typeface="Times New Roman" panose="02020603050405020304" pitchFamily="18" charset="0"/>
              <a:ea typeface="Times New Roman" panose="02020603050405020304" pitchFamily="18" charset="0"/>
            </a:endParaRPr>
          </a:p>
          <a:p>
            <a:pPr>
              <a:lnSpc>
                <a:spcPct val="106000"/>
              </a:lnSpc>
              <a:spcAft>
                <a:spcPts val="0"/>
              </a:spcAft>
            </a:pPr>
            <a:r>
              <a:rPr lang="en-IN" b="1" dirty="0">
                <a:solidFill>
                  <a:srgbClr val="000000"/>
                </a:solidFill>
                <a:latin typeface="Times New Roman" panose="02020603050405020304" pitchFamily="18" charset="0"/>
                <a:ea typeface="Times New Roman" panose="02020603050405020304" pitchFamily="18" charset="0"/>
              </a:rPr>
              <a:t>Functional Objectives:</a:t>
            </a:r>
            <a:endParaRPr lang="en-IN" sz="1400" dirty="0">
              <a:latin typeface="Times New Roman" panose="02020603050405020304" pitchFamily="18" charset="0"/>
              <a:ea typeface="Times New Roman" panose="02020603050405020304" pitchFamily="18" charset="0"/>
            </a:endParaRPr>
          </a:p>
          <a:p>
            <a:pPr>
              <a:lnSpc>
                <a:spcPct val="106000"/>
              </a:lnSpc>
              <a:spcAft>
                <a:spcPts val="0"/>
              </a:spcAft>
            </a:pPr>
            <a:r>
              <a:rPr lang="en-IN" dirty="0">
                <a:solidFill>
                  <a:srgbClr val="000000"/>
                </a:solidFill>
                <a:latin typeface="Times New Roman" panose="02020603050405020304" pitchFamily="18" charset="0"/>
                <a:ea typeface="Times New Roman" panose="02020603050405020304" pitchFamily="18" charset="0"/>
              </a:rPr>
              <a:t>The system will provide a seamless web-based interface that allows users to easily toggle power for each individual smart bulb. It will support real-time brightness adjustment, enabling smooth dimming from 0% to 100% based on user preference. A fully interactive RGB </a:t>
            </a:r>
            <a:r>
              <a:rPr lang="en-IN" dirty="0" err="1">
                <a:solidFill>
                  <a:srgbClr val="000000"/>
                </a:solidFill>
                <a:latin typeface="Times New Roman" panose="02020603050405020304" pitchFamily="18" charset="0"/>
                <a:ea typeface="Times New Roman" panose="02020603050405020304" pitchFamily="18" charset="0"/>
              </a:rPr>
              <a:t>color</a:t>
            </a:r>
            <a:r>
              <a:rPr lang="en-IN" dirty="0">
                <a:solidFill>
                  <a:srgbClr val="000000"/>
                </a:solidFill>
                <a:latin typeface="Times New Roman" panose="02020603050405020304" pitchFamily="18" charset="0"/>
                <a:ea typeface="Times New Roman" panose="02020603050405020304" pitchFamily="18" charset="0"/>
              </a:rPr>
              <a:t> control panel will allow users to choose from millions of </a:t>
            </a:r>
            <a:r>
              <a:rPr lang="en-IN" dirty="0" err="1">
                <a:solidFill>
                  <a:srgbClr val="000000"/>
                </a:solidFill>
                <a:latin typeface="Times New Roman" panose="02020603050405020304" pitchFamily="18" charset="0"/>
                <a:ea typeface="Times New Roman" panose="02020603050405020304" pitchFamily="18" charset="0"/>
              </a:rPr>
              <a:t>colors</a:t>
            </a:r>
            <a:r>
              <a:rPr lang="en-IN" dirty="0">
                <a:solidFill>
                  <a:srgbClr val="000000"/>
                </a:solidFill>
                <a:latin typeface="Times New Roman" panose="02020603050405020304" pitchFamily="18" charset="0"/>
                <a:ea typeface="Times New Roman" panose="02020603050405020304" pitchFamily="18" charset="0"/>
              </a:rPr>
              <a:t>. Additionally, the system will enable users to group bulbs into different rooms, making multi-bulb management simple and organized.</a:t>
            </a:r>
            <a:endParaRPr lang="en-IN" sz="1400" dirty="0">
              <a:latin typeface="Times New Roman" panose="02020603050405020304" pitchFamily="18" charset="0"/>
              <a:ea typeface="Times New Roman" panose="02020603050405020304" pitchFamily="18" charset="0"/>
            </a:endParaRPr>
          </a:p>
          <a:p>
            <a:pPr>
              <a:lnSpc>
                <a:spcPct val="106000"/>
              </a:lnSpc>
              <a:spcAft>
                <a:spcPts val="0"/>
              </a:spcAft>
            </a:pPr>
            <a:r>
              <a:rPr lang="en-IN" dirty="0">
                <a:solidFill>
                  <a:srgbClr val="000000"/>
                </a:solidFill>
                <a:latin typeface="Times New Roman" panose="02020603050405020304" pitchFamily="18" charset="0"/>
                <a:ea typeface="Times New Roman" panose="02020603050405020304" pitchFamily="18" charset="0"/>
              </a:rPr>
              <a:t> </a:t>
            </a:r>
            <a:endParaRPr lang="en-IN" sz="1400" dirty="0">
              <a:latin typeface="Times New Roman" panose="02020603050405020304" pitchFamily="18" charset="0"/>
              <a:ea typeface="Times New Roman" panose="02020603050405020304" pitchFamily="18" charset="0"/>
            </a:endParaRPr>
          </a:p>
          <a:p>
            <a:pPr>
              <a:lnSpc>
                <a:spcPct val="106000"/>
              </a:lnSpc>
              <a:spcAft>
                <a:spcPts val="0"/>
              </a:spcAft>
            </a:pPr>
            <a:r>
              <a:rPr lang="en-IN" b="1" dirty="0">
                <a:solidFill>
                  <a:srgbClr val="000000"/>
                </a:solidFill>
                <a:latin typeface="Times New Roman" panose="02020603050405020304" pitchFamily="18" charset="0"/>
                <a:ea typeface="Times New Roman" panose="02020603050405020304" pitchFamily="18" charset="0"/>
              </a:rPr>
              <a:t>Advanced Feature Objectives:</a:t>
            </a:r>
            <a:endParaRPr lang="en-IN" sz="1400" dirty="0">
              <a:latin typeface="Times New Roman" panose="02020603050405020304" pitchFamily="18" charset="0"/>
              <a:ea typeface="Times New Roman" panose="02020603050405020304" pitchFamily="18" charset="0"/>
            </a:endParaRPr>
          </a:p>
          <a:p>
            <a:pPr>
              <a:lnSpc>
                <a:spcPct val="106000"/>
              </a:lnSpc>
              <a:spcAft>
                <a:spcPts val="0"/>
              </a:spcAft>
            </a:pPr>
            <a:r>
              <a:rPr lang="en-IN" dirty="0">
                <a:solidFill>
                  <a:srgbClr val="000000"/>
                </a:solidFill>
                <a:latin typeface="Times New Roman" panose="02020603050405020304" pitchFamily="18" charset="0"/>
                <a:ea typeface="Times New Roman" panose="02020603050405020304" pitchFamily="18" charset="0"/>
              </a:rPr>
              <a:t>The system will include smart lighting modes such as Night Mode, offering a soft, warm, low-brightness </a:t>
            </a:r>
            <a:r>
              <a:rPr lang="en-IN" dirty="0" err="1">
                <a:solidFill>
                  <a:srgbClr val="000000"/>
                </a:solidFill>
                <a:latin typeface="Times New Roman" panose="02020603050405020304" pitchFamily="18" charset="0"/>
                <a:ea typeface="Times New Roman" panose="02020603050405020304" pitchFamily="18" charset="0"/>
              </a:rPr>
              <a:t>preset</a:t>
            </a:r>
            <a:r>
              <a:rPr lang="en-IN" dirty="0">
                <a:solidFill>
                  <a:srgbClr val="000000"/>
                </a:solidFill>
                <a:latin typeface="Times New Roman" panose="02020603050405020304" pitchFamily="18" charset="0"/>
                <a:ea typeface="Times New Roman" panose="02020603050405020304" pitchFamily="18" charset="0"/>
              </a:rPr>
              <a:t> for </a:t>
            </a:r>
            <a:r>
              <a:rPr lang="en-IN" dirty="0" err="1">
                <a:solidFill>
                  <a:srgbClr val="000000"/>
                </a:solidFill>
                <a:latin typeface="Times New Roman" panose="02020603050405020304" pitchFamily="18" charset="0"/>
                <a:ea typeface="Times New Roman" panose="02020603050405020304" pitchFamily="18" charset="0"/>
              </a:rPr>
              <a:t>nighttime</a:t>
            </a:r>
            <a:r>
              <a:rPr lang="en-IN" dirty="0">
                <a:solidFill>
                  <a:srgbClr val="000000"/>
                </a:solidFill>
                <a:latin typeface="Times New Roman" panose="02020603050405020304" pitchFamily="18" charset="0"/>
                <a:ea typeface="Times New Roman" panose="02020603050405020304" pitchFamily="18" charset="0"/>
              </a:rPr>
              <a:t> use. A dynamic Disco Mode will provide cycling </a:t>
            </a:r>
            <a:r>
              <a:rPr lang="en-IN" dirty="0" err="1">
                <a:solidFill>
                  <a:srgbClr val="000000"/>
                </a:solidFill>
                <a:latin typeface="Times New Roman" panose="02020603050405020304" pitchFamily="18" charset="0"/>
                <a:ea typeface="Times New Roman" panose="02020603050405020304" pitchFamily="18" charset="0"/>
              </a:rPr>
              <a:t>color</a:t>
            </a:r>
            <a:r>
              <a:rPr lang="en-IN" dirty="0">
                <a:solidFill>
                  <a:srgbClr val="000000"/>
                </a:solidFill>
                <a:latin typeface="Times New Roman" panose="02020603050405020304" pitchFamily="18" charset="0"/>
                <a:ea typeface="Times New Roman" panose="02020603050405020304" pitchFamily="18" charset="0"/>
              </a:rPr>
              <a:t> animations for entertainment, while a Breathing Effect will create a gentle pulsing glow. Users will also be able to save and reuse custom lighting </a:t>
            </a:r>
            <a:r>
              <a:rPr lang="en-IN" dirty="0" err="1">
                <a:solidFill>
                  <a:srgbClr val="000000"/>
                </a:solidFill>
                <a:latin typeface="Times New Roman" panose="02020603050405020304" pitchFamily="18" charset="0"/>
                <a:ea typeface="Times New Roman" panose="02020603050405020304" pitchFamily="18" charset="0"/>
              </a:rPr>
              <a:t>presets</a:t>
            </a:r>
            <a:r>
              <a:rPr lang="en-IN" dirty="0">
                <a:solidFill>
                  <a:srgbClr val="000000"/>
                </a:solidFill>
                <a:latin typeface="Times New Roman" panose="02020603050405020304" pitchFamily="18" charset="0"/>
                <a:ea typeface="Times New Roman" panose="02020603050405020304" pitchFamily="18" charset="0"/>
              </a:rPr>
              <a:t> combining </a:t>
            </a:r>
            <a:r>
              <a:rPr lang="en-IN" dirty="0" err="1">
                <a:solidFill>
                  <a:srgbClr val="000000"/>
                </a:solidFill>
                <a:latin typeface="Times New Roman" panose="02020603050405020304" pitchFamily="18" charset="0"/>
                <a:ea typeface="Times New Roman" panose="02020603050405020304" pitchFamily="18" charset="0"/>
              </a:rPr>
              <a:t>colors</a:t>
            </a:r>
            <a:r>
              <a:rPr lang="en-IN" dirty="0">
                <a:solidFill>
                  <a:srgbClr val="000000"/>
                </a:solidFill>
                <a:latin typeface="Times New Roman" panose="02020603050405020304" pitchFamily="18" charset="0"/>
                <a:ea typeface="Times New Roman" panose="02020603050405020304" pitchFamily="18" charset="0"/>
              </a:rPr>
              <a:t> and brightness settings.</a:t>
            </a:r>
            <a:endParaRPr lang="en-IN" sz="1400" dirty="0">
              <a:latin typeface="Times New Roman" panose="02020603050405020304" pitchFamily="18" charset="0"/>
              <a:ea typeface="Times New Roman" panose="02020603050405020304" pitchFamily="18" charset="0"/>
            </a:endParaRPr>
          </a:p>
          <a:p>
            <a:pPr>
              <a:lnSpc>
                <a:spcPct val="106000"/>
              </a:lnSpc>
              <a:spcAft>
                <a:spcPts val="0"/>
              </a:spcAft>
            </a:pPr>
            <a:r>
              <a:rPr lang="en-IN" dirty="0">
                <a:solidFill>
                  <a:srgbClr val="000000"/>
                </a:solidFill>
                <a:latin typeface="Times New Roman" panose="02020603050405020304" pitchFamily="18" charset="0"/>
                <a:ea typeface="Times New Roman" panose="02020603050405020304" pitchFamily="18" charset="0"/>
              </a:rPr>
              <a:t> </a:t>
            </a:r>
            <a:endParaRPr lang="en-IN" sz="1400" dirty="0">
              <a:latin typeface="Times New Roman" panose="02020603050405020304" pitchFamily="18" charset="0"/>
              <a:ea typeface="Times New Roman" panose="02020603050405020304" pitchFamily="18" charset="0"/>
            </a:endParaRPr>
          </a:p>
          <a:p>
            <a:pPr>
              <a:lnSpc>
                <a:spcPct val="106000"/>
              </a:lnSpc>
              <a:spcAft>
                <a:spcPts val="0"/>
              </a:spcAft>
            </a:pPr>
            <a:r>
              <a:rPr lang="en-IN" b="1" dirty="0">
                <a:solidFill>
                  <a:srgbClr val="000000"/>
                </a:solidFill>
                <a:latin typeface="Times New Roman" panose="02020603050405020304" pitchFamily="18" charset="0"/>
                <a:ea typeface="Times New Roman" panose="02020603050405020304" pitchFamily="18" charset="0"/>
              </a:rPr>
              <a:t>Utility &amp; Security Objectives</a:t>
            </a:r>
            <a:r>
              <a:rPr lang="en-IN" dirty="0">
                <a:solidFill>
                  <a:srgbClr val="000000"/>
                </a:solidFill>
                <a:latin typeface="Times New Roman" panose="02020603050405020304" pitchFamily="18" charset="0"/>
                <a:ea typeface="Times New Roman" panose="02020603050405020304" pitchFamily="18" charset="0"/>
              </a:rPr>
              <a:t>:</a:t>
            </a:r>
            <a:endParaRPr lang="en-IN" sz="1400" dirty="0">
              <a:latin typeface="Times New Roman" panose="02020603050405020304" pitchFamily="18" charset="0"/>
              <a:ea typeface="Times New Roman" panose="02020603050405020304" pitchFamily="18" charset="0"/>
            </a:endParaRPr>
          </a:p>
          <a:p>
            <a:pPr>
              <a:lnSpc>
                <a:spcPct val="106000"/>
              </a:lnSpc>
              <a:spcAft>
                <a:spcPts val="0"/>
              </a:spcAft>
            </a:pPr>
            <a:r>
              <a:rPr lang="en-IN" dirty="0">
                <a:solidFill>
                  <a:srgbClr val="000000"/>
                </a:solidFill>
                <a:latin typeface="Times New Roman" panose="02020603050405020304" pitchFamily="18" charset="0"/>
                <a:ea typeface="Times New Roman" panose="02020603050405020304" pitchFamily="18" charset="0"/>
              </a:rPr>
              <a:t>Key utility features include an Auto Timer for delayed switching and a Scheduling/Alarm function for daily automated ON/OFF routines. A Lock/Child-Safety mode will ensure accidental changes are prevented, improving security and reliability.</a:t>
            </a:r>
            <a:endParaRPr lang="en-IN" sz="1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958882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F431FA-835A-A65E-B316-18000C6AC1AD}"/>
              </a:ext>
            </a:extLst>
          </p:cNvPr>
          <p:cNvSpPr>
            <a:spLocks noGrp="1"/>
          </p:cNvSpPr>
          <p:nvPr>
            <p:ph type="title"/>
          </p:nvPr>
        </p:nvSpPr>
        <p:spPr>
          <a:xfrm>
            <a:off x="2517974" y="534169"/>
            <a:ext cx="8911687" cy="1280890"/>
          </a:xfrm>
        </p:spPr>
        <p:txBody>
          <a:bodyPr/>
          <a:lstStyle/>
          <a:p>
            <a:r>
              <a:rPr lang="en-US" b="1" dirty="0"/>
              <a:t>Methodology</a:t>
            </a:r>
          </a:p>
        </p:txBody>
      </p:sp>
      <p:pic>
        <p:nvPicPr>
          <p:cNvPr id="3" name="Picture 2">
            <a:extLst>
              <a:ext uri="{FF2B5EF4-FFF2-40B4-BE49-F238E27FC236}">
                <a16:creationId xmlns="" xmlns:a16="http://schemas.microsoft.com/office/drawing/2014/main" id="{4031218D-A1CC-D89D-AC1E-74B835D50D15}"/>
              </a:ext>
            </a:extLst>
          </p:cNvPr>
          <p:cNvPicPr>
            <a:picLocks noChangeAspect="1"/>
          </p:cNvPicPr>
          <p:nvPr/>
        </p:nvPicPr>
        <p:blipFill>
          <a:blip r:embed="rId2"/>
          <a:stretch>
            <a:fillRect/>
          </a:stretch>
        </p:blipFill>
        <p:spPr>
          <a:xfrm>
            <a:off x="9473194" y="139176"/>
            <a:ext cx="2459952" cy="789985"/>
          </a:xfrm>
          <a:prstGeom prst="rect">
            <a:avLst/>
          </a:prstGeom>
        </p:spPr>
      </p:pic>
      <p:sp>
        <p:nvSpPr>
          <p:cNvPr id="4" name="Rectangle 3"/>
          <p:cNvSpPr/>
          <p:nvPr/>
        </p:nvSpPr>
        <p:spPr>
          <a:xfrm>
            <a:off x="212437" y="1610482"/>
            <a:ext cx="11822545" cy="5139869"/>
          </a:xfrm>
          <a:prstGeom prst="rect">
            <a:avLst/>
          </a:prstGeom>
        </p:spPr>
        <p:txBody>
          <a:bodyPr wrap="square">
            <a:spAutoFit/>
          </a:bodyPr>
          <a:lstStyle/>
          <a:p>
            <a:pPr>
              <a:spcAft>
                <a:spcPts val="0"/>
              </a:spcAft>
            </a:pPr>
            <a:r>
              <a:rPr lang="en-IN" dirty="0">
                <a:solidFill>
                  <a:srgbClr val="000000"/>
                </a:solidFill>
                <a:latin typeface="Times New Roman" panose="02020603050405020304" pitchFamily="18" charset="0"/>
                <a:ea typeface="Times New Roman" panose="02020603050405020304" pitchFamily="18" charset="0"/>
              </a:rPr>
              <a:t>The methodology for developing the Smart Lighting Control System focuses on a structured, user-</a:t>
            </a:r>
            <a:r>
              <a:rPr lang="en-IN" dirty="0" err="1">
                <a:solidFill>
                  <a:srgbClr val="000000"/>
                </a:solidFill>
                <a:latin typeface="Times New Roman" panose="02020603050405020304" pitchFamily="18" charset="0"/>
                <a:ea typeface="Times New Roman" panose="02020603050405020304" pitchFamily="18" charset="0"/>
              </a:rPr>
              <a:t>centered</a:t>
            </a:r>
            <a:r>
              <a:rPr lang="en-IN" dirty="0">
                <a:solidFill>
                  <a:srgbClr val="000000"/>
                </a:solidFill>
                <a:latin typeface="Times New Roman" panose="02020603050405020304" pitchFamily="18" charset="0"/>
                <a:ea typeface="Times New Roman" panose="02020603050405020304" pitchFamily="18" charset="0"/>
              </a:rPr>
              <a:t>, and technology-efficient approach. First, the system’s data is organized into a single JavaScript object that holds all bulbs, rooms, and their configurable attributes. This object acts as the “brain” of the system, controlling operations like toggling power, adjusting brightness, selecting RGB </a:t>
            </a:r>
            <a:r>
              <a:rPr lang="en-IN" dirty="0" err="1">
                <a:solidFill>
                  <a:srgbClr val="000000"/>
                </a:solidFill>
                <a:latin typeface="Times New Roman" panose="02020603050405020304" pitchFamily="18" charset="0"/>
                <a:ea typeface="Times New Roman" panose="02020603050405020304" pitchFamily="18" charset="0"/>
              </a:rPr>
              <a:t>colors</a:t>
            </a:r>
            <a:r>
              <a:rPr lang="en-IN" dirty="0">
                <a:solidFill>
                  <a:srgbClr val="000000"/>
                </a:solidFill>
                <a:latin typeface="Times New Roman" panose="02020603050405020304" pitchFamily="18" charset="0"/>
                <a:ea typeface="Times New Roman" panose="02020603050405020304" pitchFamily="18" charset="0"/>
              </a:rPr>
              <a:t>, and activating modes. To maintain persistence across browser sessions, all essential data is saved using </a:t>
            </a:r>
            <a:r>
              <a:rPr lang="en-IN" dirty="0" err="1">
                <a:solidFill>
                  <a:srgbClr val="000000"/>
                </a:solidFill>
                <a:latin typeface="Times New Roman" panose="02020603050405020304" pitchFamily="18" charset="0"/>
                <a:ea typeface="Times New Roman" panose="02020603050405020304" pitchFamily="18" charset="0"/>
              </a:rPr>
              <a:t>localStorage</a:t>
            </a:r>
            <a:r>
              <a:rPr lang="en-IN" dirty="0">
                <a:solidFill>
                  <a:srgbClr val="000000"/>
                </a:solidFill>
                <a:latin typeface="Times New Roman" panose="02020603050405020304" pitchFamily="18" charset="0"/>
                <a:ea typeface="Times New Roman" panose="02020603050405020304" pitchFamily="18" charset="0"/>
              </a:rPr>
              <a:t>, ensuring that user preferences and configurations automatically load whenever the interface is reopened.</a:t>
            </a:r>
            <a:endParaRPr lang="en-IN" sz="1400" dirty="0">
              <a:latin typeface="Times New Roman" panose="02020603050405020304" pitchFamily="18" charset="0"/>
              <a:ea typeface="Times New Roman" panose="02020603050405020304" pitchFamily="18" charset="0"/>
            </a:endParaRPr>
          </a:p>
          <a:p>
            <a:pPr>
              <a:spcAft>
                <a:spcPts val="0"/>
              </a:spcAft>
            </a:pPr>
            <a:r>
              <a:rPr lang="en-IN" dirty="0">
                <a:solidFill>
                  <a:srgbClr val="000000"/>
                </a:solidFill>
                <a:latin typeface="Times New Roman" panose="02020603050405020304" pitchFamily="18" charset="0"/>
                <a:ea typeface="Times New Roman" panose="02020603050405020304" pitchFamily="18" charset="0"/>
              </a:rPr>
              <a:t> </a:t>
            </a:r>
            <a:endParaRPr lang="en-IN" sz="1400" dirty="0">
              <a:latin typeface="Times New Roman" panose="02020603050405020304" pitchFamily="18" charset="0"/>
              <a:ea typeface="Times New Roman" panose="02020603050405020304" pitchFamily="18" charset="0"/>
            </a:endParaRPr>
          </a:p>
          <a:p>
            <a:pPr>
              <a:spcAft>
                <a:spcPts val="0"/>
              </a:spcAft>
            </a:pPr>
            <a:r>
              <a:rPr lang="en-IN" dirty="0">
                <a:solidFill>
                  <a:srgbClr val="000000"/>
                </a:solidFill>
                <a:latin typeface="Times New Roman" panose="02020603050405020304" pitchFamily="18" charset="0"/>
                <a:ea typeface="Times New Roman" panose="02020603050405020304" pitchFamily="18" charset="0"/>
              </a:rPr>
              <a:t>For the front-end implementation, the methodology adopts a modular, component-based structure. Separate JavaScript functions are used to render room lists, bulb lists, and the active bulb interface, ensuring clean separation of logic. </a:t>
            </a:r>
            <a:r>
              <a:rPr lang="en-IN" dirty="0" err="1">
                <a:solidFill>
                  <a:srgbClr val="000000"/>
                </a:solidFill>
                <a:latin typeface="Times New Roman" panose="02020603050405020304" pitchFamily="18" charset="0"/>
                <a:ea typeface="Times New Roman" panose="02020603050405020304" pitchFamily="18" charset="0"/>
              </a:rPr>
              <a:t>TailwindCSS</a:t>
            </a:r>
            <a:r>
              <a:rPr lang="en-IN" dirty="0">
                <a:solidFill>
                  <a:srgbClr val="000000"/>
                </a:solidFill>
                <a:latin typeface="Times New Roman" panose="02020603050405020304" pitchFamily="18" charset="0"/>
                <a:ea typeface="Times New Roman" panose="02020603050405020304" pitchFamily="18" charset="0"/>
              </a:rPr>
              <a:t> provides rapid UI styling with utility-first classes, enabling responsive layouts and consistent design. SVG graphics are used to visually represent bulbs, allowing </a:t>
            </a:r>
            <a:r>
              <a:rPr lang="en-IN" dirty="0" err="1">
                <a:solidFill>
                  <a:srgbClr val="000000"/>
                </a:solidFill>
                <a:latin typeface="Times New Roman" panose="02020603050405020304" pitchFamily="18" charset="0"/>
                <a:ea typeface="Times New Roman" panose="02020603050405020304" pitchFamily="18" charset="0"/>
              </a:rPr>
              <a:t>color</a:t>
            </a:r>
            <a:r>
              <a:rPr lang="en-IN" dirty="0">
                <a:solidFill>
                  <a:srgbClr val="000000"/>
                </a:solidFill>
                <a:latin typeface="Times New Roman" panose="02020603050405020304" pitchFamily="18" charset="0"/>
                <a:ea typeface="Times New Roman" panose="02020603050405020304" pitchFamily="18" charset="0"/>
              </a:rPr>
              <a:t>, glow intensity, and animations to be updated in real time through JavaScript attribute manipulation.</a:t>
            </a:r>
            <a:endParaRPr lang="en-IN" sz="1400" dirty="0">
              <a:latin typeface="Times New Roman" panose="02020603050405020304" pitchFamily="18" charset="0"/>
              <a:ea typeface="Times New Roman" panose="02020603050405020304" pitchFamily="18" charset="0"/>
            </a:endParaRPr>
          </a:p>
          <a:p>
            <a:pPr>
              <a:spcAft>
                <a:spcPts val="0"/>
              </a:spcAft>
            </a:pPr>
            <a:r>
              <a:rPr lang="en-IN" dirty="0">
                <a:solidFill>
                  <a:srgbClr val="000000"/>
                </a:solidFill>
                <a:latin typeface="Times New Roman" panose="02020603050405020304" pitchFamily="18" charset="0"/>
                <a:ea typeface="Times New Roman" panose="02020603050405020304" pitchFamily="18" charset="0"/>
              </a:rPr>
              <a:t> </a:t>
            </a:r>
            <a:endParaRPr lang="en-IN" sz="1400" dirty="0">
              <a:latin typeface="Times New Roman" panose="02020603050405020304" pitchFamily="18" charset="0"/>
              <a:ea typeface="Times New Roman" panose="02020603050405020304" pitchFamily="18" charset="0"/>
            </a:endParaRPr>
          </a:p>
          <a:p>
            <a:pPr>
              <a:spcAft>
                <a:spcPts val="0"/>
              </a:spcAft>
            </a:pPr>
            <a:r>
              <a:rPr lang="en-IN" dirty="0">
                <a:solidFill>
                  <a:srgbClr val="000000"/>
                </a:solidFill>
                <a:latin typeface="Times New Roman" panose="02020603050405020304" pitchFamily="18" charset="0"/>
                <a:ea typeface="Times New Roman" panose="02020603050405020304" pitchFamily="18" charset="0"/>
              </a:rPr>
              <a:t>Advanced features such as Night Mode, Disco Mode, Breathing Effect, and custom </a:t>
            </a:r>
            <a:r>
              <a:rPr lang="en-IN" dirty="0" err="1">
                <a:solidFill>
                  <a:srgbClr val="000000"/>
                </a:solidFill>
                <a:latin typeface="Times New Roman" panose="02020603050405020304" pitchFamily="18" charset="0"/>
                <a:ea typeface="Times New Roman" panose="02020603050405020304" pitchFamily="18" charset="0"/>
              </a:rPr>
              <a:t>presets</a:t>
            </a:r>
            <a:r>
              <a:rPr lang="en-IN" dirty="0">
                <a:solidFill>
                  <a:srgbClr val="000000"/>
                </a:solidFill>
                <a:latin typeface="Times New Roman" panose="02020603050405020304" pitchFamily="18" charset="0"/>
                <a:ea typeface="Times New Roman" panose="02020603050405020304" pitchFamily="18" charset="0"/>
              </a:rPr>
              <a:t> are implemented using timed intervals, </a:t>
            </a:r>
            <a:r>
              <a:rPr lang="en-IN" dirty="0" err="1">
                <a:solidFill>
                  <a:srgbClr val="000000"/>
                </a:solidFill>
                <a:latin typeface="Times New Roman" panose="02020603050405020304" pitchFamily="18" charset="0"/>
                <a:ea typeface="Times New Roman" panose="02020603050405020304" pitchFamily="18" charset="0"/>
              </a:rPr>
              <a:t>color</a:t>
            </a:r>
            <a:r>
              <a:rPr lang="en-IN" dirty="0">
                <a:solidFill>
                  <a:srgbClr val="000000"/>
                </a:solidFill>
                <a:latin typeface="Times New Roman" panose="02020603050405020304" pitchFamily="18" charset="0"/>
                <a:ea typeface="Times New Roman" panose="02020603050405020304" pitchFamily="18" charset="0"/>
              </a:rPr>
              <a:t>-transition functions, and dynamic class toggling. The methodology also includes user-friendly controls like sliders, </a:t>
            </a:r>
            <a:r>
              <a:rPr lang="en-IN" dirty="0" err="1">
                <a:solidFill>
                  <a:srgbClr val="000000"/>
                </a:solidFill>
                <a:latin typeface="Times New Roman" panose="02020603050405020304" pitchFamily="18" charset="0"/>
                <a:ea typeface="Times New Roman" panose="02020603050405020304" pitchFamily="18" charset="0"/>
              </a:rPr>
              <a:t>color</a:t>
            </a:r>
            <a:r>
              <a:rPr lang="en-IN" dirty="0">
                <a:solidFill>
                  <a:srgbClr val="000000"/>
                </a:solidFill>
                <a:latin typeface="Times New Roman" panose="02020603050405020304" pitchFamily="18" charset="0"/>
                <a:ea typeface="Times New Roman" panose="02020603050405020304" pitchFamily="18" charset="0"/>
              </a:rPr>
              <a:t> pickers, timers, and scheduling options to create an intuitive and seamless smart-lighting experience.</a:t>
            </a:r>
            <a:endParaRPr lang="en-IN" sz="1400" dirty="0">
              <a:latin typeface="Times New Roman" panose="02020603050405020304" pitchFamily="18" charset="0"/>
              <a:ea typeface="Times New Roman" panose="02020603050405020304" pitchFamily="18" charset="0"/>
            </a:endParaRPr>
          </a:p>
          <a:p>
            <a:pPr>
              <a:spcAft>
                <a:spcPts val="0"/>
              </a:spcAft>
            </a:pPr>
            <a:r>
              <a:rPr lang="en-IN" sz="2000" dirty="0">
                <a:solidFill>
                  <a:srgbClr val="000000"/>
                </a:solidFill>
                <a:latin typeface="Times New Roman" panose="02020603050405020304" pitchFamily="18" charset="0"/>
                <a:ea typeface="Times New Roman" panose="02020603050405020304" pitchFamily="18" charset="0"/>
              </a:rPr>
              <a:t/>
            </a:r>
            <a:br>
              <a:rPr lang="en-IN" sz="2000" dirty="0">
                <a:solidFill>
                  <a:srgbClr val="000000"/>
                </a:solidFill>
                <a:latin typeface="Times New Roman" panose="02020603050405020304" pitchFamily="18" charset="0"/>
                <a:ea typeface="Times New Roman" panose="02020603050405020304" pitchFamily="18" charset="0"/>
              </a:rPr>
            </a:br>
            <a:r>
              <a:rPr lang="en-IN" sz="2000" dirty="0">
                <a:solidFill>
                  <a:srgbClr val="000000"/>
                </a:solidFill>
                <a:latin typeface="Times New Roman" panose="02020603050405020304" pitchFamily="18" charset="0"/>
                <a:ea typeface="Times New Roman" panose="02020603050405020304" pitchFamily="18" charset="0"/>
              </a:rPr>
              <a:t> </a:t>
            </a:r>
            <a:endParaRPr lang="en-IN" sz="1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5908544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 xmlns:a16="http://schemas.microsoft.com/office/drawing/2014/main" id="{E0BF5CAA-E8E7-7977-1024-9F642364C92A}"/>
              </a:ext>
            </a:extLst>
          </p:cNvPr>
          <p:cNvPicPr>
            <a:picLocks noChangeAspect="1"/>
          </p:cNvPicPr>
          <p:nvPr/>
        </p:nvPicPr>
        <p:blipFill>
          <a:blip r:embed="rId2"/>
          <a:stretch>
            <a:fillRect/>
          </a:stretch>
        </p:blipFill>
        <p:spPr>
          <a:xfrm>
            <a:off x="9051163" y="193857"/>
            <a:ext cx="2459952" cy="789985"/>
          </a:xfrm>
          <a:prstGeom prst="rect">
            <a:avLst/>
          </a:prstGeom>
        </p:spPr>
      </p:pic>
      <p:sp>
        <p:nvSpPr>
          <p:cNvPr id="4" name="Title 1">
            <a:extLst>
              <a:ext uri="{FF2B5EF4-FFF2-40B4-BE49-F238E27FC236}">
                <a16:creationId xmlns="" xmlns:a16="http://schemas.microsoft.com/office/drawing/2014/main" id="{3429EC38-AC8F-5A32-8476-79CBDB188CF7}"/>
              </a:ext>
            </a:extLst>
          </p:cNvPr>
          <p:cNvSpPr>
            <a:spLocks noGrp="1"/>
          </p:cNvSpPr>
          <p:nvPr>
            <p:ph type="title"/>
          </p:nvPr>
        </p:nvSpPr>
        <p:spPr>
          <a:xfrm>
            <a:off x="609600" y="274638"/>
            <a:ext cx="10972800" cy="1143000"/>
          </a:xfrm>
        </p:spPr>
        <p:txBody>
          <a:bodyPr/>
          <a:lstStyle/>
          <a:p>
            <a:r>
              <a:rPr lang="en-US" b="1" dirty="0"/>
              <a:t>BRIEF DESCRIPTION OF PROJECT (TECHNOLOGIES USED)</a:t>
            </a:r>
          </a:p>
        </p:txBody>
      </p:sp>
      <p:sp>
        <p:nvSpPr>
          <p:cNvPr id="3" name="Rectangle 2"/>
          <p:cNvSpPr/>
          <p:nvPr/>
        </p:nvSpPr>
        <p:spPr>
          <a:xfrm>
            <a:off x="766620" y="1832046"/>
            <a:ext cx="10150762" cy="3416320"/>
          </a:xfrm>
          <a:prstGeom prst="rect">
            <a:avLst/>
          </a:prstGeom>
        </p:spPr>
        <p:txBody>
          <a:bodyPr wrap="square">
            <a:spAutoFit/>
          </a:bodyPr>
          <a:lstStyle/>
          <a:p>
            <a:r>
              <a:rPr lang="en-IN" dirty="0"/>
              <a:t>The provided project is a Smart Bulb Remote Application, a purely client-side web simulation designed to manage and control virtual smart home lighting. Built with HTML5, Tailwind CSS, and Vanilla JavaScript, the application allows users to simulate control over light bulbs grouped into different Rooms. Its core functionality includes toggling power, adjusting brightness via a range slider, and setting the bulb's </a:t>
            </a:r>
            <a:r>
              <a:rPr lang="en-IN" dirty="0" err="1"/>
              <a:t>color</a:t>
            </a:r>
            <a:r>
              <a:rPr lang="en-IN" dirty="0"/>
              <a:t> using a </a:t>
            </a:r>
            <a:r>
              <a:rPr lang="en-IN" dirty="0" err="1"/>
              <a:t>color</a:t>
            </a:r>
            <a:r>
              <a:rPr lang="en-IN" dirty="0"/>
              <a:t> picker or direct RGB input. Key features extend to specialized modes like Night Mode (pre-set warm, dim light), Disco Mode (a timed </a:t>
            </a:r>
            <a:r>
              <a:rPr lang="en-IN" dirty="0" err="1"/>
              <a:t>color</a:t>
            </a:r>
            <a:r>
              <a:rPr lang="en-IN" dirty="0"/>
              <a:t>-cycling animation), and a subtle Breathing Mode (pulsing glow animation), all rendered dynamically using JavaScript to modify the inline SVG bulb graphic and its associated CSS filters. All configurations, including rooms, bulbs, and custom </a:t>
            </a:r>
            <a:r>
              <a:rPr lang="en-IN" dirty="0" err="1"/>
              <a:t>Presets</a:t>
            </a:r>
            <a:r>
              <a:rPr lang="en-IN" dirty="0"/>
              <a:t>, are saved using the browser's Local Storage for persistence. Furthermore, the app includes utility functions for timers and scheduling (setting daily ON/OFF times), a system log for tracking events, and a Lock feature for safety, demonstrating a comprehensive implementation of typical smart home app controls within a single-page interface.</a:t>
            </a:r>
          </a:p>
        </p:txBody>
      </p:sp>
    </p:spTree>
    <p:extLst>
      <p:ext uri="{BB962C8B-B14F-4D97-AF65-F5344CB8AC3E}">
        <p14:creationId xmlns:p14="http://schemas.microsoft.com/office/powerpoint/2010/main" val="3328294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EF882FD-3721-1434-7047-0FBCE4D5B6BF}"/>
              </a:ext>
            </a:extLst>
          </p:cNvPr>
          <p:cNvSpPr>
            <a:spLocks noGrp="1"/>
          </p:cNvSpPr>
          <p:nvPr>
            <p:ph type="title"/>
          </p:nvPr>
        </p:nvSpPr>
        <p:spPr/>
        <p:txBody>
          <a:bodyPr/>
          <a:lstStyle/>
          <a:p>
            <a:r>
              <a:rPr lang="en-US" b="1" dirty="0"/>
              <a:t>Problem Outcomes </a:t>
            </a:r>
          </a:p>
        </p:txBody>
      </p:sp>
      <p:pic>
        <p:nvPicPr>
          <p:cNvPr id="4" name="Picture 3">
            <a:extLst>
              <a:ext uri="{FF2B5EF4-FFF2-40B4-BE49-F238E27FC236}">
                <a16:creationId xmlns="" xmlns:a16="http://schemas.microsoft.com/office/drawing/2014/main" id="{FBA25465-EB3A-A913-81F8-969400531BBC}"/>
              </a:ext>
            </a:extLst>
          </p:cNvPr>
          <p:cNvPicPr>
            <a:picLocks noChangeAspect="1"/>
          </p:cNvPicPr>
          <p:nvPr/>
        </p:nvPicPr>
        <p:blipFill>
          <a:blip r:embed="rId2"/>
          <a:stretch>
            <a:fillRect/>
          </a:stretch>
        </p:blipFill>
        <p:spPr>
          <a:xfrm>
            <a:off x="9262178" y="274638"/>
            <a:ext cx="2459952" cy="789985"/>
          </a:xfrm>
          <a:prstGeom prst="rect">
            <a:avLst/>
          </a:prstGeom>
        </p:spPr>
      </p:pic>
      <p:sp>
        <p:nvSpPr>
          <p:cNvPr id="3" name="Rectangle 2"/>
          <p:cNvSpPr/>
          <p:nvPr/>
        </p:nvSpPr>
        <p:spPr>
          <a:xfrm>
            <a:off x="1810328" y="1859570"/>
            <a:ext cx="8571345" cy="3416320"/>
          </a:xfrm>
          <a:prstGeom prst="rect">
            <a:avLst/>
          </a:prstGeom>
        </p:spPr>
        <p:txBody>
          <a:bodyPr wrap="square">
            <a:spAutoFit/>
          </a:bodyPr>
          <a:lstStyle/>
          <a:p>
            <a:r>
              <a:rPr lang="en-IN" dirty="0"/>
              <a:t>The problem outcome of using this Smart Bulb Remote Application simulation is the successful demonstration of complex, real-time device control and state management entirely within a web browser. The application effectively provides a persistent, interactive user interface that allows for the simultaneous management of multiple virtual devices (bulbs) across different organizational groups (rooms). This solution verifies that modern front-end technologies can handle dynamic UI updates, intricate animations (like Disco and Breathing modes), state synchronization via Local Storage, and time-based automation (Timers and Schedules) without requiring a backend server. The final result is a fully functional prototype that accurately replicates the look, feel, and core control capabilities of a professional smart lighting application, offering a foundation for understanding the challenges and solutions in developing responsive </a:t>
            </a:r>
            <a:r>
              <a:rPr lang="en-IN" dirty="0" err="1"/>
              <a:t>IoT</a:t>
            </a:r>
            <a:r>
              <a:rPr lang="en-IN" dirty="0"/>
              <a:t> control interfaces.</a:t>
            </a:r>
          </a:p>
        </p:txBody>
      </p:sp>
    </p:spTree>
    <p:extLst>
      <p:ext uri="{BB962C8B-B14F-4D97-AF65-F5344CB8AC3E}">
        <p14:creationId xmlns:p14="http://schemas.microsoft.com/office/powerpoint/2010/main" val="28250600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 xmlns:a16="http://schemas.microsoft.com/office/drawing/2014/main" id="{046F2827-4755-BDC9-BF7C-AF663828C16B}"/>
              </a:ext>
            </a:extLst>
          </p:cNvPr>
          <p:cNvPicPr>
            <a:picLocks noChangeAspect="1"/>
          </p:cNvPicPr>
          <p:nvPr/>
        </p:nvPicPr>
        <p:blipFill>
          <a:blip r:embed="rId2"/>
          <a:stretch>
            <a:fillRect/>
          </a:stretch>
        </p:blipFill>
        <p:spPr>
          <a:xfrm>
            <a:off x="8699471" y="123519"/>
            <a:ext cx="2459952" cy="789985"/>
          </a:xfrm>
          <a:prstGeom prst="rect">
            <a:avLst/>
          </a:prstGeom>
        </p:spPr>
      </p:pic>
      <p:sp>
        <p:nvSpPr>
          <p:cNvPr id="3" name="Title 1">
            <a:extLst>
              <a:ext uri="{FF2B5EF4-FFF2-40B4-BE49-F238E27FC236}">
                <a16:creationId xmlns="" xmlns:a16="http://schemas.microsoft.com/office/drawing/2014/main" id="{8F297EA1-F64C-9E17-754C-625967B016D0}"/>
              </a:ext>
            </a:extLst>
          </p:cNvPr>
          <p:cNvSpPr>
            <a:spLocks noGrp="1"/>
          </p:cNvSpPr>
          <p:nvPr>
            <p:ph type="title"/>
          </p:nvPr>
        </p:nvSpPr>
        <p:spPr>
          <a:xfrm>
            <a:off x="609600" y="654466"/>
            <a:ext cx="10972800" cy="1143000"/>
          </a:xfrm>
        </p:spPr>
        <p:txBody>
          <a:bodyPr/>
          <a:lstStyle/>
          <a:p>
            <a:r>
              <a:rPr lang="en-US" b="1" dirty="0"/>
              <a:t>SCREEN SHOTS OF PROJECT</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034" y="1865747"/>
            <a:ext cx="3898812" cy="4054764"/>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08412" y="1865747"/>
            <a:ext cx="3357057" cy="4331854"/>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28602" y="1713345"/>
            <a:ext cx="2953798" cy="4807527"/>
          </a:xfrm>
          <a:prstGeom prst="rect">
            <a:avLst/>
          </a:prstGeom>
        </p:spPr>
      </p:pic>
    </p:spTree>
    <p:extLst>
      <p:ext uri="{BB962C8B-B14F-4D97-AF65-F5344CB8AC3E}">
        <p14:creationId xmlns:p14="http://schemas.microsoft.com/office/powerpoint/2010/main" val="3844817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logo.png"/>
          <p:cNvPicPr>
            <a:picLocks noChangeAspect="1"/>
          </p:cNvPicPr>
          <p:nvPr/>
        </p:nvPicPr>
        <p:blipFill>
          <a:blip r:embed="rId2" cstate="print"/>
          <a:stretch>
            <a:fillRect/>
          </a:stretch>
        </p:blipFill>
        <p:spPr>
          <a:xfrm>
            <a:off x="9620506" y="152401"/>
            <a:ext cx="818895" cy="818895"/>
          </a:xfrm>
          <a:prstGeom prst="rect">
            <a:avLst/>
          </a:prstGeom>
        </p:spPr>
      </p:pic>
      <p:pic>
        <p:nvPicPr>
          <p:cNvPr id="2050" name="Picture 2" descr="C:\Users\Dhanesh\Desktop\ppt\p1.png"/>
          <p:cNvPicPr>
            <a:picLocks noChangeAspect="1" noChangeArrowheads="1"/>
          </p:cNvPicPr>
          <p:nvPr/>
        </p:nvPicPr>
        <p:blipFill>
          <a:blip r:embed="rId3" cstate="print"/>
          <a:srcRect/>
          <a:stretch>
            <a:fillRect/>
          </a:stretch>
        </p:blipFill>
        <p:spPr bwMode="auto">
          <a:xfrm>
            <a:off x="8229600" y="6248400"/>
            <a:ext cx="2057400" cy="609600"/>
          </a:xfrm>
          <a:prstGeom prst="rect">
            <a:avLst/>
          </a:prstGeom>
          <a:noFill/>
        </p:spPr>
      </p:pic>
      <p:cxnSp>
        <p:nvCxnSpPr>
          <p:cNvPr id="10" name="Straight Connector 9"/>
          <p:cNvCxnSpPr/>
          <p:nvPr/>
        </p:nvCxnSpPr>
        <p:spPr>
          <a:xfrm>
            <a:off x="1828800" y="990600"/>
            <a:ext cx="8534400" cy="1588"/>
          </a:xfrm>
          <a:prstGeom prst="line">
            <a:avLst/>
          </a:prstGeom>
          <a:ln w="38100" cmpd="sng">
            <a:gradFill flip="none" rotWithShape="1">
              <a:gsLst>
                <a:gs pos="0">
                  <a:srgbClr val="000082"/>
                </a:gs>
                <a:gs pos="30000">
                  <a:srgbClr val="66008F"/>
                </a:gs>
                <a:gs pos="64999">
                  <a:srgbClr val="BA0066"/>
                </a:gs>
                <a:gs pos="89999">
                  <a:srgbClr val="FF0000"/>
                </a:gs>
                <a:gs pos="100000">
                  <a:srgbClr val="FF8200"/>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pic>
        <p:nvPicPr>
          <p:cNvPr id="8" name="Picture 7" descr="DJI_0206.JPG"/>
          <p:cNvPicPr>
            <a:picLocks noChangeAspect="1"/>
          </p:cNvPicPr>
          <p:nvPr/>
        </p:nvPicPr>
        <p:blipFill>
          <a:blip r:embed="rId4"/>
          <a:stretch>
            <a:fillRect/>
          </a:stretch>
        </p:blipFill>
        <p:spPr>
          <a:xfrm>
            <a:off x="1524000" y="1066800"/>
            <a:ext cx="9144000" cy="5181600"/>
          </a:xfrm>
          <a:prstGeom prst="rect">
            <a:avLst/>
          </a:prstGeom>
        </p:spPr>
      </p:pic>
      <p:sp>
        <p:nvSpPr>
          <p:cNvPr id="5" name="Title 4"/>
          <p:cNvSpPr>
            <a:spLocks noGrp="1"/>
          </p:cNvSpPr>
          <p:nvPr>
            <p:ph type="title"/>
          </p:nvPr>
        </p:nvSpPr>
        <p:spPr>
          <a:xfrm>
            <a:off x="2209800" y="1054102"/>
            <a:ext cx="7772400" cy="1003299"/>
          </a:xfrm>
        </p:spPr>
        <p:txBody>
          <a:bodyPr>
            <a:normAutofit/>
          </a:bodyPr>
          <a:lstStyle/>
          <a:p>
            <a:pPr algn="ctr"/>
            <a:r>
              <a:rPr lang="en-US" dirty="0">
                <a:effectLst>
                  <a:outerShdw blurRad="38100" dist="38100" dir="2700000" algn="tl">
                    <a:srgbClr val="000000">
                      <a:alpha val="43137"/>
                    </a:srgbClr>
                  </a:outerShdw>
                </a:effectLst>
              </a:rPr>
              <a:t>THANK YOU!</a:t>
            </a:r>
          </a:p>
        </p:txBody>
      </p:sp>
    </p:spTree>
    <p:extLst>
      <p:ext uri="{BB962C8B-B14F-4D97-AF65-F5344CB8AC3E}">
        <p14:creationId xmlns:p14="http://schemas.microsoft.com/office/powerpoint/2010/main" val="7825676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68</TotalTime>
  <Words>508</Words>
  <Application>Microsoft Office PowerPoint</Application>
  <PresentationFormat>Widescreen</PresentationFormat>
  <Paragraphs>28</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Times New Roman</vt:lpstr>
      <vt:lpstr>Office Theme</vt:lpstr>
      <vt:lpstr>Smart lightning with IOT</vt:lpstr>
      <vt:lpstr>OBJECTIVE </vt:lpstr>
      <vt:lpstr>Methodology</vt:lpstr>
      <vt:lpstr>BRIEF DESCRIPTION OF PROJECT (TECHNOLOGIES USED)</vt:lpstr>
      <vt:lpstr>Problem Outcomes </vt:lpstr>
      <vt:lpstr>SCREEN SHOTS OF PROJECT</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lightning with IOT</dc:title>
  <dc:creator>Sharad Kumar Singh</dc:creator>
  <cp:lastModifiedBy>Acer</cp:lastModifiedBy>
  <cp:revision>6</cp:revision>
  <dcterms:modified xsi:type="dcterms:W3CDTF">2026-10-13T04:37:30Z</dcterms:modified>
</cp:coreProperties>
</file>